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737360"/>
            <a:ext cx="1051560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分匣授權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8892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3520440"/>
            <a:ext cx="11064240" cy="12700"/>
          </a:xfrm>
          <a:prstGeom prst="rect">
            <a:avLst/>
          </a:prstGeom>
          <a:solidFill>
            <a:srgbClr val="D9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只准這一次，而且只准這一匣。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5216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週末演示 · 合成資料 · 非正式 MyData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跨部門補助。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用戶自己當整合層。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跑窗口。交影本。對欄位。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錯的解法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給代理人一張胖 token。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517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fields:*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6576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每個機關都看到全部。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故事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林曉晴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1051560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北市 → 新北　　一歲幼兒　　合成資料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「我剛搬家，看我能申請什麼。」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02336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A3D"/>
                </a:solidFill>
                <a:latin typeface="Microsoft JhengHei"/>
                <a:rFonts ascii="Microsoft JhengHei" hAnsi="Microsoft JhengHei" eastAsia="Microsoft JhengHei" cs="Microsoft JhengHei"/>
              </a:rPr>
              <a:t>育兒津貼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社會局　匣 G-甲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023360"/>
            <a:ext cx="5029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A3D"/>
                </a:solidFill>
                <a:latin typeface="Microsoft JhengHei"/>
                <a:rFonts ascii="Microsoft JhengHei" hAnsi="Microsoft JhengHei" eastAsia="Microsoft JhengHei" cs="Microsoft JhengHei"/>
              </a:rPr>
              <a:t>冷氣汰換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經濟部 × 台電　匣 G-乙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兩匣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5212080" cy="329184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475488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G-甲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戶籍 + 親子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社會局看得到這些。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看不到電號、所得。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5212080" cy="329184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463040"/>
            <a:ext cx="4754880" cy="2834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G-乙</a:t>
            </a:r>
          </a:p>
          <a:p>
            <a:pPr algn="l">
              <a:spcAft>
                <a:spcPts val="600"/>
              </a:spcAft>
            </a:pPr>
            <a:r>
              <a:rPr sz="28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電號 + 三月用電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經濟部 × 台電只拿到這些。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看不到戶籍、所得。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所得在金庫。不給。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越權關閉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乙要戶籍。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7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403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不回傳半包欄位。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送件即撤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送件  →  匣耗用。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重放擷取  →  403。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206240"/>
            <a:ext cx="105156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只准這一次。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Grant 白名單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8191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Bearer Grant G-jia / G-yi。沒有 fields:*。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孤立匣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3347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甲、乙各存各的。不能聯集。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3756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規則引擎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68503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搬家 + 0–2 歲 → 津貼。有電表 → 汰換。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38912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LLM 不管授權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36592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模型頂多改措辭。不能發匣、不能放行欄位。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實機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10642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三欄同一畫面。看這四件事。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2651760" cy="402336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554480"/>
            <a:ext cx="23317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甲匣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戶籍＋親子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沒有電號、所得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371600"/>
            <a:ext cx="2651760" cy="402336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554480"/>
            <a:ext cx="23317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乙匣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電號＋三月用電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沒有戶籍、所得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2651760" cy="402336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73952" y="1554480"/>
            <a:ext cx="23317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越權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乙要戶籍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403　半包也不給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371600"/>
            <a:ext cx="2651760" cy="4023360"/>
          </a:xfrm>
          <a:prstGeom prst="roundRect">
            <a:avLst/>
          </a:prstGeom>
          <a:solidFill>
            <a:srgbClr val="FBF7EE"/>
          </a:solidFill>
          <a:ln>
            <a:solidFill>
              <a:srgbClr val="D9D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54312" y="1554480"/>
            <a:ext cx="2331720" cy="3657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稽核</a:t>
            </a:r>
          </a:p>
          <a:p>
            <a:pPr algn="l">
              <a:spcAft>
                <a:spcPts val="600"/>
              </a:spcAft>
            </a:pPr>
            <a:r>
              <a:rPr sz="2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核准／擷取／送件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撤銷／拒絕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MPA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多個委託人，約束同一個代理人。一人一匣。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1F4A3D"/>
                </a:solidFill>
                <a:latin typeface="Microsoft JhengHei"/>
                <a:rFonts ascii="Microsoft JhengHei" hAnsi="Microsoft JhengHei" eastAsia="Microsoft JhengHei" cs="Microsoft JhengHei"/>
              </a:rPr>
              <a:t>同一套 Grant。換簽發人。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主家搬家：簽發人 = 本人（同意）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46120"/>
            <a:ext cx="10515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執法調閱：簽發人 = 法院／搜索票，不是機關甲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11480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甲是收件人。乙仍簽署這包是他的。人還在場。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附頁 · 不是本週演示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RBA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每個環節出憑證。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747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供應鏈上的同一句話。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本週末不實作。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下一步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真 MyData 要數發部函。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560320"/>
            <a:ext cx="105156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1C1612"/>
                </a:solidFill>
                <a:latin typeface="Microsoft JhengHei"/>
                <a:rFonts ascii="Microsoft JhengHei" hAnsi="Microsoft JhengHei" eastAsia="Microsoft JhengHei" cs="Microsoft JhengHei"/>
              </a:rPr>
              <a:t>週末用合成資料。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3657600"/>
            <a:ext cx="11064240" cy="12700"/>
          </a:xfrm>
          <a:prstGeom prst="rect">
            <a:avLst/>
          </a:prstGeom>
          <a:solidFill>
            <a:srgbClr val="D9D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88620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2800" b="1">
                <a:solidFill>
                  <a:srgbClr val="9F1D1D"/>
                </a:solidFill>
                <a:latin typeface="Microsoft JhengHei"/>
                <a:rFonts ascii="Microsoft JhengHei" hAnsi="Microsoft JhengHei" eastAsia="Microsoft JhengHei" cs="Microsoft JhengHei"/>
              </a:rPr>
              <a:t>只准這一次，而且只准這一匣。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7315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GrantOnce 分匣授權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4652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6B6258"/>
                </a:solidFill>
                <a:latin typeface="Microsoft JhengHei"/>
                <a:rFonts ascii="Microsoft JhengHei" hAnsi="Microsoft JhengHei" eastAsia="Microsoft JhengHei" cs="Microsoft JhengHe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